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CED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3657600"/>
            <a:ext cx="6400800" cy="6400800"/>
          </a:xfrm>
          <a:prstGeom prst="ellipse">
            <a:avLst/>
          </a:prstGeom>
          <a:solidFill>
            <a:srgbClr val="C0C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entagon 4"/>
          <p:cNvSpPr/>
          <p:nvPr/>
        </p:nvSpPr>
        <p:spPr>
          <a:xfrm rot="16200000">
            <a:off x="822960" y="777240"/>
            <a:ext cx="685800" cy="685800"/>
          </a:xfrm>
          <a:prstGeom prst="homePlate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1640" y="8229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A1430"/>
                </a:solidFill>
                <a:latin typeface="Outfit"/>
              </a:rPr>
              <a:t>dunper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229057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239115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08860"/>
            <a:ext cx="19979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1430"/>
                </a:solidFill>
                <a:latin typeface="Outfit"/>
              </a:rPr>
              <a:t>● PITCH DECK · 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0A1430"/>
                </a:solidFill>
                <a:latin typeface="Outfit"/>
              </a:rPr>
              <a:t>Make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1E3A8A"/>
                </a:solidFill>
                <a:latin typeface="Outfit"/>
              </a:rPr>
              <a:t>Simple.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206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Outfit"/>
              </a:rPr>
              <a:t>Dunper AI gives your business a smart, multilingual chatbot that books,
answers, and learns — so you can focus on what truly matters.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59105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74523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6294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1430"/>
                </a:solidFill>
                <a:latin typeface="Outfit"/>
              </a:rPr>
              <a:t>● ABOUT DUNPER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0A1430"/>
                </a:solidFill>
                <a:latin typeface="Outfit"/>
              </a:rPr>
              <a:t>The story </a:t>
            </a:r>
            <a:r>
              <a:rPr sz="4600" b="1">
                <a:solidFill>
                  <a:srgbClr val="1E3A8A"/>
                </a:solidFill>
                <a:latin typeface="Outfit"/>
              </a:rPr>
              <a:t>behind</a:t>
            </a:r>
            <a:r>
              <a:rPr sz="4600" b="1">
                <a:solidFill>
                  <a:srgbClr val="0A1430"/>
                </a:solidFill>
                <a:latin typeface="Outfit"/>
              </a:rPr>
              <a:t> Dunper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75569"/>
                </a:solidFill>
                <a:latin typeface="Outfit"/>
              </a:rPr>
              <a:t>Dunper is the always-on AI receptionist for small businesses.
We answer every call, every message, every booking —
in any language, any hour.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463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9834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Outfit"/>
              </a:rPr>
              <a:t>OUR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A1430"/>
                </a:solidFill>
                <a:latin typeface="Outfit"/>
              </a:rPr>
              <a:t>Give every small business an AI employee that actually shows up — reliable, multilingual, and honest enough to admit when a human needs to step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84632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9834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Outfit"/>
              </a:rPr>
              <a:t>OUR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530352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A1430"/>
                </a:solidFill>
                <a:latin typeface="Outfit"/>
              </a:rPr>
              <a:t>A world where every local business has the same caliber of customer service as the biggest brands — without needing to hire a single new person.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Outfit"/>
              </a:rPr>
              <a:t>dunper.com  ·  dunperai@gmail.com  ·  Jakarta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Outfit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5133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74523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62940"/>
            <a:ext cx="12207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1430"/>
                </a:solidFill>
                <a:latin typeface="Outfit"/>
              </a:rPr>
              <a:t>●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A1430"/>
                </a:solidFill>
                <a:latin typeface="Outfit"/>
              </a:rPr>
              <a:t>Small businesses are </a:t>
            </a:r>
            <a:r>
              <a:rPr sz="4400" b="1">
                <a:solidFill>
                  <a:srgbClr val="1E3A8A"/>
                </a:solidFill>
                <a:latin typeface="Outfit"/>
              </a:rPr>
              <a:t>losing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  <a:latin typeface="Outfit"/>
              </a:rPr>
              <a:t>every after-hours hour, every missed WhatsApp, every busy weekend.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37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A1430"/>
                </a:solidFill>
                <a:latin typeface="Outfit"/>
              </a:rPr>
              <a:t>After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8620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Outfit"/>
              </a:rPr>
              <a:t>Customers DM at 9pm.
Replies come at 9am.
Leads cool overnight.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10896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337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A1430"/>
                </a:solidFill>
                <a:latin typeface="Outfit"/>
              </a:rPr>
              <a:t>Three languages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88620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Outfit"/>
              </a:rPr>
              <a:t>Bahasa, English, and a regional dialect.
No single staffer covers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10896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3337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A1430"/>
                </a:solidFill>
                <a:latin typeface="Outfit"/>
              </a:rPr>
              <a:t>Hiring is $$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88620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Outfit"/>
              </a:rPr>
              <a:t>A receptionist costs more
than a year of Dunper subscription.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Outfit"/>
              </a:rPr>
              <a:t>dunper.com  ·  dunperai@gmail.com  ·  Jakarta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Outfit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59105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74523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6294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1430"/>
                </a:solidFill>
                <a:latin typeface="Outfit"/>
              </a:rPr>
              <a:t>●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A1430"/>
                </a:solidFill>
                <a:latin typeface="Outfit"/>
              </a:rPr>
              <a:t>Three steps to </a:t>
            </a:r>
            <a:r>
              <a:rPr sz="4200" b="1">
                <a:solidFill>
                  <a:srgbClr val="1E3A8A"/>
                </a:solidFill>
                <a:latin typeface="Outfit"/>
              </a:rPr>
              <a:t>smarter customer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352044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2834640"/>
            <a:ext cx="868680" cy="86868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880360"/>
            <a:ext cx="868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319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A1430"/>
                </a:solidFill>
                <a:latin typeface="Outfit"/>
              </a:rPr>
              <a:t>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8056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Outfit"/>
              </a:rPr>
              <a:t>Embed Dunper AI on your website or third-party platform in minutes with a small floating icon.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606040"/>
            <a:ext cx="352044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2834640"/>
            <a:ext cx="868680" cy="86868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880360"/>
            <a:ext cx="868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9319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A1430"/>
                </a:solidFill>
                <a:latin typeface="Outfit"/>
              </a:rPr>
              <a:t>Configure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48056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Outfit"/>
              </a:rPr>
              <a:t>Set your tone, fallout messages, business policies, and language settings from the AI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606040"/>
            <a:ext cx="352044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49640" y="2834640"/>
            <a:ext cx="868680" cy="86868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880360"/>
            <a:ext cx="868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9319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A1430"/>
                </a:solidFill>
                <a:latin typeface="Outfit"/>
              </a:rPr>
              <a:t>Grow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480560"/>
            <a:ext cx="2926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Outfit"/>
              </a:rPr>
              <a:t>Watch bookings rise, track performance metrics, and let Dunper handle the volume while you scale.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Outfit"/>
              </a:rPr>
              <a:t>dunper.com  ·  dunperai@gmail.com  ·  Jakarta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Outfit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90195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74523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62940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1430"/>
                </a:solidFill>
                <a:latin typeface="Outfit"/>
              </a:rPr>
              <a:t>● WHAT DUNPER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A1430"/>
                </a:solidFill>
                <a:latin typeface="Outfit"/>
              </a:rPr>
              <a:t>A chatbot that </a:t>
            </a:r>
            <a:r>
              <a:rPr sz="4200" b="1">
                <a:solidFill>
                  <a:srgbClr val="1E3A8A"/>
                </a:solidFill>
                <a:latin typeface="Outfit"/>
              </a:rPr>
              <a:t>thinks for your brand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1430"/>
                </a:solidFill>
                <a:latin typeface="Outfit"/>
              </a:rPr>
              <a:t>Customer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Outfit"/>
              </a:rPr>
              <a:t>Answer FAQs, resolve issues, and handle inquiries automatically — 24/7, in any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6060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7889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1430"/>
                </a:solidFill>
                <a:latin typeface="Outfit"/>
              </a:rPr>
              <a:t>Booking &amp; Scheduling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29184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Outfit"/>
              </a:rPr>
              <a:t>Customers book services, appointments, or products directly through the chatbot with full calendar integration.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6060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1430"/>
                </a:solidFill>
                <a:latin typeface="Outfit"/>
              </a:rPr>
              <a:t>Multilingual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9184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Outfit"/>
              </a:rPr>
              <a:t>One chatbot, dozens of languages. Dunper detects the customer's language and responds naturally.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2628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1430"/>
                </a:solidFill>
                <a:latin typeface="Outfit"/>
              </a:rPr>
              <a:t>Memory &amp; Personalization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21208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Outfit"/>
              </a:rPr>
              <a:t>Dunper remembers user habits, preferences, and past interactions for personalized experiences.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452628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47091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1430"/>
                </a:solidFill>
                <a:latin typeface="Outfit"/>
              </a:rPr>
              <a:t>Real-World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521208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Outfit"/>
              </a:rPr>
              <a:t>Connect to Google Calendar, CRMs, and third-party tools. Dunper fits your existing workflow.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52628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47091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A1430"/>
                </a:solidFill>
                <a:latin typeface="Outfit"/>
              </a:rPr>
              <a:t>Visual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21208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Outfit"/>
              </a:rPr>
              <a:t>Handle image uploads, attachments, documents, and videos within the chat — no external tools needed.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Outfit"/>
              </a:rPr>
              <a:t>dunper.com  ·  dunperai@gmail.com  ·  Jakarta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Outfit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5133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74523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62940"/>
            <a:ext cx="12207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1430"/>
                </a:solidFill>
                <a:latin typeface="Outfit"/>
              </a:rPr>
              <a:t>●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A1430"/>
                </a:solidFill>
                <a:latin typeface="Outfit"/>
              </a:rPr>
              <a:t>Live, working, </a:t>
            </a:r>
            <a:r>
              <a:rPr sz="4200" b="1">
                <a:solidFill>
                  <a:srgbClr val="1E3A8A"/>
                </a:solidFill>
                <a:latin typeface="Outfit"/>
              </a:rPr>
              <a:t>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Outfit"/>
              </a:rPr>
              <a:t>Multi-tenant SaaS · WhatsApp · Google Calendar + Sheets · Founder dashboard with CRM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534924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Outfit"/>
              </a:rPr>
              <a:t>CUSTOMER CHAT WIDGET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A1430"/>
                </a:solidFill>
                <a:latin typeface="Outfit"/>
              </a:rPr>
              <a:t>Embedded on any site.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840480"/>
            <a:ext cx="4114800" cy="54864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91363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430"/>
                </a:solidFill>
                <a:latin typeface="Outfit"/>
              </a:rPr>
              <a:t>Hi! Do you have any slots tomorrow afternoon?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4526280"/>
            <a:ext cx="3749039" cy="54864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459943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Outfit"/>
              </a:rPr>
              <a:t>Yes — 2pm and 4pm are open. Want either?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5166360"/>
            <a:ext cx="3474720" cy="54864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23951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A1430"/>
                </a:solidFill>
                <a:latin typeface="Outfit"/>
              </a:rPr>
              <a:t>2pm works. Name's Sari, +62 812-3456.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806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Outfit"/>
              </a:rPr>
              <a:t>✓ Booking confirmed and added to your Google Calendar.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697480"/>
            <a:ext cx="534924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880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  <a:latin typeface="Outfit"/>
              </a:rPr>
              <a:t>BUSINESS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00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A1430"/>
                </a:solidFill>
                <a:latin typeface="Outfit"/>
              </a:rPr>
              <a:t>One screen, every customer.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886200"/>
            <a:ext cx="2377440" cy="96012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97763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Outfit"/>
              </a:rPr>
              <a:t>147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480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Outfit"/>
              </a:rPr>
              <a:t>Conversations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3886200"/>
            <a:ext cx="2377440" cy="96012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3977639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Outfit"/>
              </a:rPr>
              <a:t>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480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Outfit"/>
              </a:rPr>
              <a:t>Bookings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4983480"/>
            <a:ext cx="2377440" cy="96012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0749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Outfit"/>
              </a:rPr>
              <a:t>$0.41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5778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Outfit"/>
              </a:rPr>
              <a:t>API cost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983480"/>
            <a:ext cx="2377440" cy="96012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50749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Outfit"/>
              </a:rPr>
              <a:t>98%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55778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Outfit"/>
              </a:rPr>
              <a:t>Auto-handled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Outfit"/>
              </a:rPr>
              <a:t>dunper.com  ·  dunperai@gmail.com  ·  Jakarta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Outfit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13512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74523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62940"/>
            <a:ext cx="18425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1430"/>
                </a:solidFill>
                <a:latin typeface="Outfit"/>
              </a:rPr>
              <a:t>● WHY TEAMS CHOOSE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A1430"/>
                </a:solidFill>
                <a:latin typeface="Outfit"/>
              </a:rPr>
              <a:t>An AI that </a:t>
            </a:r>
            <a:r>
              <a:rPr sz="4200" b="1">
                <a:solidFill>
                  <a:srgbClr val="1E3A8A"/>
                </a:solidFill>
                <a:latin typeface="Outfit"/>
              </a:rPr>
              <a:t>actually shows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1430"/>
                </a:solidFill>
                <a:latin typeface="Outfit"/>
              </a:rPr>
              <a:t>Always-on conversations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Outfit"/>
              </a:rPr>
              <a:t>Every message gets a response in seconds, no matter the time of day. Customers stop waiting; you stop losing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0604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1430"/>
                </a:solidFill>
                <a:latin typeface="Outfit"/>
              </a:rPr>
              <a:t>Booking that just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38328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Outfit"/>
              </a:rPr>
              <a:t>Appointments flow straight into your Google Calendar. Confirmations, reminders, and reschedules happen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3484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4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1430"/>
                </a:solidFill>
                <a:latin typeface="Outfit"/>
              </a:rPr>
              <a:t>Honest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79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Outfit"/>
              </a:rPr>
              <a:t>If Dunper doesn't know, it says so. No fake confidence, no hallucinated answers — just a clean handoff to a real person.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43484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66344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1430"/>
                </a:solidFill>
                <a:latin typeface="Outfit"/>
              </a:rPr>
              <a:t>Your data stays yours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212079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Outfit"/>
              </a:rPr>
              <a:t>Each business connects its own Google account. We don't pool, share, or sell your customer data. Ever.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Outfit"/>
              </a:rPr>
              <a:t>dunper.com  ·  dunperai@gmail.com  ·  Jakarta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Outfit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8242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74523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62940"/>
            <a:ext cx="15316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1430"/>
                </a:solidFill>
                <a:latin typeface="Outfit"/>
              </a:rPr>
              <a:t>● WHY US,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A1430"/>
                </a:solidFill>
                <a:latin typeface="Outfit"/>
              </a:rPr>
              <a:t>They serve developers. </a:t>
            </a:r>
            <a:r>
              <a:rPr sz="4200" b="1">
                <a:solidFill>
                  <a:srgbClr val="1E3A8A"/>
                </a:solidFill>
                <a:latin typeface="Outfit"/>
              </a:rPr>
              <a:t>We serve warungs.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Outfit"/>
              </a:rPr>
              <a:t>The Indonesian SME chatbot market is wide open. Here's why incumbents won't touch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8803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Outfit"/>
              </a:rPr>
              <a:t>Intercom / Drift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8803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Outfit"/>
              </a:rPr>
              <a:t>ChatGPT / GPT-wrapper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788920"/>
            <a:ext cx="2468880" cy="594360"/>
          </a:xfrm>
          <a:prstGeom prst="roundRect">
            <a:avLst>
              <a:gd name="adj" fmla="val 6000"/>
            </a:avLst>
          </a:prstGeom>
          <a:solidFill>
            <a:srgbClr val="0A1430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59" y="28803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Outfit"/>
              </a:rPr>
              <a:t>Dunper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74720"/>
            <a:ext cx="10972800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A1430"/>
                </a:solidFill>
                <a:latin typeface="Outfit"/>
              </a:rPr>
              <a:t>Built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54787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SaaS / 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4787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Anyone, no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59" y="35478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3A8A"/>
                </a:solidFill>
                <a:latin typeface="Outfit"/>
              </a:rPr>
              <a:t>Indonesian SMEs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5935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A1430"/>
                </a:solidFill>
                <a:latin typeface="Outfit"/>
              </a:rPr>
              <a:t>Language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95935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English-first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5935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60+ langs, no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59" y="395935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3A8A"/>
                </a:solidFill>
                <a:latin typeface="Outfit"/>
              </a:rPr>
              <a:t>60+ langs, Bahasa-first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297680"/>
            <a:ext cx="10972800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708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A1430"/>
                </a:solidFill>
                <a:latin typeface="Outfit"/>
              </a:rPr>
              <a:t>Setup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37083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1–2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37083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Hours, requires prompts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437083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3A8A"/>
                </a:solidFill>
                <a:latin typeface="Outfit"/>
              </a:rPr>
              <a:t>60 seconds, plain English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823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A1430"/>
                </a:solidFill>
                <a:latin typeface="Outfit"/>
              </a:rPr>
              <a:t>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78231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$74+ / mo per seat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8231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$20 / mo per seat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59" y="478231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3A8A"/>
                </a:solidFill>
                <a:latin typeface="Outfit"/>
              </a:rPr>
              <a:t>$0 – $50 / mo, flat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120640"/>
            <a:ext cx="10972800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1937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A1430"/>
                </a:solidFill>
                <a:latin typeface="Outfit"/>
              </a:rPr>
              <a:t>WhatsApp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19379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Add-on,  $$$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19379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Build it yourself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59" y="51937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3A8A"/>
                </a:solidFill>
                <a:latin typeface="Outfit"/>
              </a:rPr>
              <a:t>Built-in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605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A1430"/>
                </a:solidFill>
                <a:latin typeface="Outfit"/>
              </a:rPr>
              <a:t>Local payments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60527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60527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59" y="56052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3A8A"/>
                </a:solidFill>
                <a:latin typeface="Outfit"/>
              </a:rPr>
              <a:t>QRIS, GoPay, OVO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5943600"/>
            <a:ext cx="10972800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601675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A1430"/>
                </a:solidFill>
                <a:latin typeface="Outfit"/>
              </a:rPr>
              <a:t>Owner edits brain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601675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Engineers required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601675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Outfit"/>
              </a:rPr>
              <a:t>Prompt engineering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59" y="601675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E3A8A"/>
                </a:solidFill>
                <a:latin typeface="Outfit"/>
              </a:rPr>
              <a:t>Plain English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Outfit"/>
              </a:rPr>
              <a:t>"Same underlying AI. Completely different product surface."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Outfit"/>
              </a:rPr>
              <a:t>dunper.com  ·  dunperai@gmail.com  ·  Jakarta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Outfit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74523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62940"/>
            <a:ext cx="8321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1430"/>
                </a:solidFill>
                <a:latin typeface="Outfit"/>
              </a:rPr>
              <a:t>●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A1430"/>
                </a:solidFill>
                <a:latin typeface="Outfit"/>
              </a:rPr>
              <a:t>Indonesia first. </a:t>
            </a:r>
            <a:r>
              <a:rPr sz="4200" b="1">
                <a:solidFill>
                  <a:srgbClr val="1E3A8A"/>
                </a:solidFill>
                <a:latin typeface="Outfit"/>
              </a:rPr>
              <a:t>Southeast Asia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1E3A8A"/>
                </a:solidFill>
                <a:latin typeface="Outfit"/>
              </a:rPr>
              <a:t>64M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86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430"/>
                </a:solidFill>
                <a:latin typeface="Outfit"/>
              </a:rPr>
              <a:t>SMEs in Indonesia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348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Outfit"/>
              </a:rPr>
              <a:t>97% of all businesses
by count (BPS, 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60604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83464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1E3A8A"/>
                </a:solidFill>
                <a:latin typeface="Outfit"/>
              </a:rPr>
              <a:t>$36B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886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430"/>
                </a:solidFill>
                <a:latin typeface="Outfit"/>
              </a:rPr>
              <a:t>ASEAN SaaS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4348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Outfit"/>
              </a:rPr>
              <a:t>Growing 18% YoY
(Gartner, 2025)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60604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83464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1E3A8A"/>
                </a:solidFill>
                <a:latin typeface="Outfit"/>
              </a:rPr>
              <a:t>$23M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886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430"/>
                </a:solidFill>
                <a:latin typeface="Outfit"/>
              </a:rPr>
              <a:t>Reachable ARR
@ 1%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4348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Outfit"/>
              </a:rPr>
              <a:t>Of Indonesian SME
chatbot spend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23560"/>
            <a:ext cx="10972800" cy="777240"/>
          </a:xfrm>
          <a:prstGeom prst="roundRect">
            <a:avLst>
              <a:gd name="adj" fmla="val 6000"/>
            </a:avLst>
          </a:prstGeom>
          <a:solidFill>
            <a:srgbClr val="0A1430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utfit"/>
              </a:rPr>
              <a:t>Why now: Anthropic Claude APIs became cheap enough in 2025 to serve a $20/mo customer profitably (~85% margin).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Outfit"/>
              </a:rPr>
              <a:t>dunper.com  ·  dunperai@gmail.com  ·  Jakarta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Outfit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2024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74523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62940"/>
            <a:ext cx="90982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1430"/>
                </a:solidFill>
                <a:latin typeface="Outfit"/>
              </a:rPr>
              <a:t>●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A1430"/>
                </a:solidFill>
                <a:latin typeface="Outfit"/>
              </a:rPr>
              <a:t>Pricing for </a:t>
            </a:r>
            <a:r>
              <a:rPr sz="4200" b="1">
                <a:solidFill>
                  <a:srgbClr val="1E3A8A"/>
                </a:solidFill>
                <a:latin typeface="Outfit"/>
              </a:rPr>
              <a:t>every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606040"/>
            <a:ext cx="27889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Outfit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1430"/>
                </a:solidFill>
                <a:latin typeface="Outfit"/>
              </a:rPr>
              <a:t>Starter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E3A8A"/>
                </a:solidFill>
                <a:latin typeface="Outfit"/>
              </a:rPr>
              <a:t>$0</a:t>
            </a:r>
            <a:r>
              <a:rPr sz="3200" b="1">
                <a:solidFill>
                  <a:srgbClr val="475569"/>
                </a:solidFill>
                <a:latin typeface="Outfit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2628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100 conversations/mo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3717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1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480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Unlimited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4589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Custom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76986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All chatbot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606040"/>
            <a:ext cx="2788920" cy="3840480"/>
          </a:xfrm>
          <a:prstGeom prst="roundRect">
            <a:avLst>
              <a:gd name="adj" fmla="val 6000"/>
            </a:avLst>
          </a:prstGeom>
          <a:solidFill>
            <a:srgbClr val="0A1430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7889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EDBF2"/>
                </a:solidFill>
                <a:latin typeface="Outfit"/>
              </a:rP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632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Outfit"/>
              </a:rPr>
              <a:t>Pro Pack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6576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E78D4"/>
                </a:solidFill>
                <a:latin typeface="Outfit"/>
              </a:rPr>
              <a:t>$20</a:t>
            </a:r>
            <a:r>
              <a:rPr sz="3200" b="1">
                <a:solidFill>
                  <a:srgbClr val="CEDBF2"/>
                </a:solidFill>
                <a:latin typeface="Outfit"/>
              </a:rPr>
              <a:t>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52628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EDBF2"/>
                </a:solidFill>
                <a:latin typeface="Outfit"/>
              </a:rPr>
              <a:t>✓  500 conversations/mo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83717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EDBF2"/>
                </a:solidFill>
                <a:latin typeface="Outfit"/>
              </a:rPr>
              <a:t>✓  5 languages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1480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EDBF2"/>
                </a:solidFill>
                <a:latin typeface="Outfit"/>
              </a:rPr>
              <a:t>✓  Unlimited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54589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EDBF2"/>
                </a:solidFill>
                <a:latin typeface="Outfit"/>
              </a:rPr>
              <a:t>✓  Custom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76986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EDBF2"/>
                </a:solidFill>
                <a:latin typeface="Outfit"/>
              </a:rPr>
              <a:t>✓  All chatbot features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606040"/>
            <a:ext cx="27889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7889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Outfit"/>
              </a:rPr>
              <a:t>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0632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1430"/>
                </a:solidFill>
                <a:latin typeface="Outfit"/>
              </a:rPr>
              <a:t>Max Pack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6576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E3A8A"/>
                </a:solidFill>
                <a:latin typeface="Outfit"/>
              </a:rPr>
              <a:t>$50</a:t>
            </a:r>
            <a:r>
              <a:rPr sz="3200" b="1">
                <a:solidFill>
                  <a:srgbClr val="475569"/>
                </a:solidFill>
                <a:latin typeface="Outfit"/>
              </a:rPr>
              <a:t>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52628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2,000 conversations/mo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3717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40+ languages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1480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Unlimited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589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Custom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76986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All chatbot features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2606040"/>
            <a:ext cx="27889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27889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75569"/>
                </a:solidFill>
                <a:latin typeface="Outfit"/>
              </a:rPr>
              <a:t>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0632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1430"/>
                </a:solidFill>
                <a:latin typeface="Outfit"/>
              </a:rPr>
              <a:t>Custom Pack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6576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Outfit"/>
              </a:rPr>
              <a:t>Custom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52628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Add any features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83717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Tailored to your business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51480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Dedicated onboarding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54589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Priority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576986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Outfit"/>
              </a:rPr>
              <a:t>✓  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Outfit"/>
              </a:rPr>
              <a:t>All plans include unlimited data, custom agent, and all chatbot features.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Outfit"/>
              </a:rPr>
              <a:t>dunper.com  ·  dunperai@gmail.com  ·  Jakarta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Outfit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13512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74523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62940"/>
            <a:ext cx="18425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1430"/>
                </a:solidFill>
                <a:latin typeface="Outfit"/>
              </a:rPr>
              <a:t>● WHERE WE ARE HEADED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A1430"/>
                </a:solidFill>
                <a:latin typeface="Outfit"/>
              </a:rPr>
              <a:t>Built fast. </a:t>
            </a:r>
            <a:r>
              <a:rPr sz="4200" b="1">
                <a:solidFill>
                  <a:srgbClr val="1E3A8A"/>
                </a:solidFill>
                <a:latin typeface="Outfit"/>
              </a:rPr>
              <a:t>Shipping faster.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4023360"/>
            <a:ext cx="9997135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828800" y="3886200"/>
            <a:ext cx="274320" cy="274320"/>
          </a:xfrm>
          <a:prstGeom prst="ellipse">
            <a:avLst/>
          </a:prstGeom>
          <a:solidFill>
            <a:srgbClr val="1E3A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Outfit"/>
              </a:rPr>
              <a:t>Mar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A1430"/>
                </a:solidFill>
                <a:latin typeface="Outfit"/>
              </a:rPr>
              <a:t>First 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26280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Outfit"/>
              </a:rPr>
              <a:t>Anthropic chatbot prototype</a:t>
            </a:r>
          </a:p>
        </p:txBody>
      </p:sp>
      <p:sp>
        <p:nvSpPr>
          <p:cNvPr id="12" name="Oval 11"/>
          <p:cNvSpPr/>
          <p:nvPr/>
        </p:nvSpPr>
        <p:spPr>
          <a:xfrm>
            <a:off x="3931920" y="3886200"/>
            <a:ext cx="274320" cy="274320"/>
          </a:xfrm>
          <a:prstGeom prst="ellipse">
            <a:avLst/>
          </a:prstGeom>
          <a:solidFill>
            <a:srgbClr val="1E3A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31089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Outfit"/>
              </a:rPr>
              <a:t>Apr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290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A1430"/>
                </a:solidFill>
                <a:latin typeface="Outfit"/>
              </a:rPr>
              <a:t>WhatsApp + Google Calendar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526280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Outfit"/>
              </a:rPr>
              <a:t>End-to-end booking flow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0" y="3886200"/>
            <a:ext cx="274320" cy="274320"/>
          </a:xfrm>
          <a:prstGeom prst="ellipse">
            <a:avLst/>
          </a:prstGeom>
          <a:solidFill>
            <a:srgbClr val="1E3A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31089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Outfit"/>
              </a:rPr>
              <a:t>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4290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A1430"/>
                </a:solidFill>
                <a:latin typeface="Outfit"/>
              </a:rPr>
              <a:t>MVP + dunper.com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526280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Outfit"/>
              </a:rPr>
              <a:t>Multi-tenant, founder CRM</a:t>
            </a:r>
          </a:p>
        </p:txBody>
      </p:sp>
      <p:sp>
        <p:nvSpPr>
          <p:cNvPr id="20" name="Oval 19"/>
          <p:cNvSpPr/>
          <p:nvPr/>
        </p:nvSpPr>
        <p:spPr>
          <a:xfrm>
            <a:off x="8138159" y="3886200"/>
            <a:ext cx="274320" cy="274320"/>
          </a:xfrm>
          <a:prstGeom prst="ellipse">
            <a:avLst/>
          </a:prstGeom>
          <a:solidFill>
            <a:srgbClr val="2E78D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31089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Outfit"/>
              </a:rPr>
              <a:t>Jul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4290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A1430"/>
                </a:solidFill>
                <a:latin typeface="Outfit"/>
              </a:rPr>
              <a:t>5 paying 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526280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Outfit"/>
              </a:rPr>
              <a:t>Indonesian SMEs in Jakarta</a:t>
            </a:r>
          </a:p>
        </p:txBody>
      </p:sp>
      <p:sp>
        <p:nvSpPr>
          <p:cNvPr id="24" name="Oval 23"/>
          <p:cNvSpPr/>
          <p:nvPr/>
        </p:nvSpPr>
        <p:spPr>
          <a:xfrm>
            <a:off x="10241280" y="3886200"/>
            <a:ext cx="274320" cy="274320"/>
          </a:xfrm>
          <a:prstGeom prst="ellipse">
            <a:avLst/>
          </a:prstGeom>
          <a:solidFill>
            <a:srgbClr val="2E78D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59" y="31089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E3A8A"/>
                </a:solidFill>
                <a:latin typeface="Outfit"/>
              </a:rPr>
              <a:t>Dec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59" y="342900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A1430"/>
                </a:solidFill>
                <a:latin typeface="Outfit"/>
              </a:rPr>
              <a:t>50 customers, $25K ARR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4526280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Outfit"/>
              </a:rPr>
              <a:t>Series-seed conversations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715000"/>
            <a:ext cx="10972800" cy="685800"/>
          </a:xfrm>
          <a:prstGeom prst="roundRect">
            <a:avLst>
              <a:gd name="adj" fmla="val 6000"/>
            </a:avLst>
          </a:prstGeom>
          <a:solidFill>
            <a:srgbClr val="0A1430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87044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utfit"/>
              </a:rPr>
              <a:t>Today: working product, marketing site live at dunper.com, first design-partner conversations underway.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Outfit"/>
              </a:rPr>
              <a:t>dunper.com  ·  dunperai@gmail.com  ·  Jakarta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Outfit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74523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62940"/>
            <a:ext cx="8046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1430"/>
                </a:solidFill>
                <a:latin typeface="Outfit"/>
              </a:rPr>
              <a:t>●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0A1430"/>
                </a:solidFill>
                <a:latin typeface="Outfit"/>
              </a:rPr>
              <a:t>The people </a:t>
            </a:r>
            <a:r>
              <a:rPr sz="4200" b="1">
                <a:solidFill>
                  <a:srgbClr val="1E3A8A"/>
                </a:solidFill>
                <a:latin typeface="Outfit"/>
              </a:rPr>
              <a:t>behind Dunper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88920"/>
            <a:ext cx="21031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3063240"/>
            <a:ext cx="914400" cy="9144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utfit"/>
              </a:rPr>
              <a:t>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A1430"/>
                </a:solidFill>
                <a:latin typeface="Outfit"/>
              </a:rPr>
              <a:t>Aurel Gregoria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3A8A"/>
                </a:solidFill>
                <a:latin typeface="Outfit"/>
              </a:rPr>
              <a:t>Front End Developer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2788920"/>
            <a:ext cx="21031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1880" y="3063240"/>
            <a:ext cx="914400" cy="914400"/>
          </a:xfrm>
          <a:prstGeom prst="ellipse">
            <a:avLst/>
          </a:prstGeom>
          <a:solidFill>
            <a:srgbClr val="2E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0632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utfit"/>
              </a:rPr>
              <a:t>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1148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A1430"/>
                </a:solidFill>
                <a:latin typeface="Outfit"/>
              </a:rPr>
              <a:t>Marc Tjhin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45262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3A8A"/>
                </a:solidFill>
                <a:latin typeface="Outfit"/>
              </a:rPr>
              <a:t>Front End Developer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788920"/>
            <a:ext cx="21031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60" y="3063240"/>
            <a:ext cx="914400" cy="9144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30632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utfit"/>
              </a:rPr>
              <a:t>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1148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A1430"/>
                </a:solidFill>
                <a:latin typeface="Outfit"/>
              </a:rPr>
              <a:t>Owen Tjandra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5262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3A8A"/>
                </a:solidFill>
                <a:latin typeface="Outfit"/>
              </a:rPr>
              <a:t>Back End Developer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0" y="2788920"/>
            <a:ext cx="21031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92440" y="3063240"/>
            <a:ext cx="914400" cy="914400"/>
          </a:xfrm>
          <a:prstGeom prst="ellipse">
            <a:avLst/>
          </a:prstGeom>
          <a:solidFill>
            <a:srgbClr val="2E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0632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utfit"/>
              </a:rPr>
              <a:t>TK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1148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A1430"/>
                </a:solidFill>
                <a:latin typeface="Outfit"/>
              </a:rPr>
              <a:t>Thomas Kusuma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45262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3A8A"/>
                </a:solidFill>
                <a:latin typeface="Outfit"/>
              </a:rPr>
              <a:t>Back End Developer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2788920"/>
            <a:ext cx="21031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0" y="3063240"/>
            <a:ext cx="914400" cy="9144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30632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utfit"/>
              </a:rPr>
              <a:t>JG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1148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A1430"/>
                </a:solidFill>
                <a:latin typeface="Outfit"/>
              </a:rPr>
              <a:t>Joaquin Gabriel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45262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E3A8A"/>
                </a:solidFill>
                <a:latin typeface="Outfit"/>
              </a:rPr>
              <a:t>Marketing, Support &amp;
External Affairs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Outfit"/>
              </a:rPr>
              <a:t>Two front-end, two back-end, one running marketing &amp; support. All in Jakarta.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Outfit"/>
              </a:rPr>
              <a:t>dunper.com  ·  dunperai@gmail.com  ·  Jakarta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Outfit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2743200"/>
            <a:ext cx="8229600" cy="8229600"/>
          </a:xfrm>
          <a:prstGeom prst="ellipse">
            <a:avLst/>
          </a:prstGeom>
          <a:solidFill>
            <a:srgbClr val="14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640080"/>
            <a:ext cx="12024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745236"/>
            <a:ext cx="100584" cy="10058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662940"/>
            <a:ext cx="90982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A1430"/>
                </a:solidFill>
                <a:latin typeface="Outfit"/>
              </a:rPr>
              <a:t>● 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utfit"/>
              </a:rPr>
              <a:t>We're raising $150K pre-seed.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EDBF2"/>
                </a:solidFill>
                <a:latin typeface="Outfit"/>
              </a:rPr>
              <a:t>12 months runway · 5 paying customers by July · 50 customers + $25K ARR by December.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040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255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6499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E78D4"/>
                </a:solidFill>
                <a:latin typeface="Outfit"/>
              </a:rPr>
              <a:t>$80K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36499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Outfit"/>
              </a:rPr>
              <a:t>Two engineers, 12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7947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EDBF2"/>
                </a:solidFill>
                <a:latin typeface="Outfit"/>
              </a:rPr>
              <a:t>Backend, integrations, infra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0040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255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36499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E78D4"/>
                </a:solidFill>
                <a:latin typeface="Outfit"/>
              </a:rPr>
              <a:t>$40K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36499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Outfit"/>
              </a:rPr>
              <a:t>GTM + 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7947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EDBF2"/>
                </a:solidFill>
                <a:latin typeface="Outfit"/>
              </a:rPr>
              <a:t>Jakarta sales, Surabaya outreach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1772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255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7823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E78D4"/>
                </a:solidFill>
                <a:latin typeface="Outfit"/>
              </a:rPr>
              <a:t>$20K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7823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Outfit"/>
              </a:rPr>
              <a:t>Infrastructure + Claude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5212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EDBF2"/>
                </a:solidFill>
                <a:latin typeface="Outfit"/>
              </a:rPr>
              <a:t>Anthropic + Cloudflare +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61772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14255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7823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E78D4"/>
                </a:solidFill>
                <a:latin typeface="Outfit"/>
              </a:rPr>
              <a:t>$10K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7823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Outfit"/>
              </a:rPr>
              <a:t>Reserve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5212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EDBF2"/>
                </a:solidFill>
                <a:latin typeface="Outfit"/>
              </a:rPr>
              <a:t>Buffer for hires, legal, contingency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CEDBF2"/>
                </a:solidFill>
                <a:latin typeface="Outfit"/>
              </a:rPr>
              <a:t>Looking for: lead investor with SE-Asia SaaS portfolio, intros to local SME networks.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CEDBF2"/>
                </a:solidFill>
                <a:latin typeface="Outfit"/>
              </a:rPr>
              <a:t>dunperai@gmail.com  ·  dunper.com  ·  Jakarta · Surabaya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